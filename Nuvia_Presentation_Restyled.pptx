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017520"/>
            <a:ext cx="4754880" cy="4754880"/>
          </a:xfrm>
          <a:prstGeom prst="ellipse">
            <a:avLst/>
          </a:prstGeom>
          <a:ln w="19050">
            <a:solidFill>
              <a:srgbClr val="3A32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840480"/>
            <a:ext cx="3108960" cy="3108960"/>
          </a:xfrm>
          <a:prstGeom prst="ellipse">
            <a:avLst/>
          </a:prstGeom>
          <a:ln w="19050">
            <a:solidFill>
              <a:srgbClr val="D962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4526280"/>
            <a:ext cx="1737360" cy="1737360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10378440" y="452628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🍽️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PLATEFORME CULINAIRE 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NUVIA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L'écosystème culinaire nouvelle génération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4251960"/>
            <a:ext cx="502920" cy="41148"/>
          </a:xfrm>
          <a:prstGeom prst="rect">
            <a:avLst/>
          </a:prstGeom>
          <a:solidFill>
            <a:srgbClr val="D9622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434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2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l'inspiration à l'assiette.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7F3E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594360" cy="594360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13055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d'inspiration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Cuisiner au quotidien devient une corvée sans idées fraîches et personnalisées.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89320" y="187452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7F3E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2148840"/>
            <a:ext cx="594360" cy="594360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2148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40880" y="213055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Désorganisation &amp; gaspillage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3640" y="283464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mal planifiées, ingrédients oubliés, repas jetés faute d'organisation.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7F3E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434840"/>
            <a:ext cx="594360" cy="594360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34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441655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Barrière de la langue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12064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meilleures recettes du monde restent inaccessibles, faute de traduction fiable.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89320" y="416052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7F3E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4434840"/>
            <a:ext cx="594360" cy="594360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4434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40880" y="441655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d'assistance en temps réel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63640" y="512064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compagnon pour répondre aux questions pendant la préparation d'un plat.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NUVIA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Solution : La Plateforme Nuvia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7F3E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2240280"/>
            <a:ext cx="777240" cy="777240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240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🍳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infinité de recettes à découvrir, filtrées et organisées.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0712" y="187452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7F3E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5112" y="224028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325112" y="2240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47872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39312" y="374904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hebdomadaire intelligente des repas.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2784" y="187452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7F3E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87184" y="2240280"/>
            <a:ext cx="777240" cy="77724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6" name="Text 14"/>
          <p:cNvSpPr/>
          <p:nvPr/>
        </p:nvSpPr>
        <p:spPr>
          <a:xfrm>
            <a:off x="7187184" y="2240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9944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Profile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01384" y="374904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sécurisé, connecté via Google OAuth.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34856" y="187452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7F3E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49256" y="2240280"/>
            <a:ext cx="777240" cy="777240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21" name="Text 19"/>
          <p:cNvSpPr/>
          <p:nvPr/>
        </p:nvSpPr>
        <p:spPr>
          <a:xfrm>
            <a:off x="10049256" y="2240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272016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63456" y="374904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 de contrôle complet pour gérer les utilisateurs.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NUVIA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CLÉS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Découverte &amp; Planification des Repas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12080" cy="3977640"/>
          </a:xfrm>
          <a:prstGeom prst="roundRect">
            <a:avLst>
              <a:gd name="adj" fmla="val 2299"/>
            </a:avLst>
          </a:prstGeom>
          <a:solidFill>
            <a:srgbClr val="F7F3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🍳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2240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interactif alimenté par un dataset massif de recettes, filtré pour des résultats exhaustifs et pertinents.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1605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96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1 000 000+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868680" y="4937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recettes indexées localement (1M_Final.csv)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87452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F7F3EE"/>
          </a:solidFill>
          <a:ln/>
        </p:spPr>
      </p:sp>
      <p:sp>
        <p:nvSpPr>
          <p:cNvPr id="12" name="Shape 10"/>
          <p:cNvSpPr/>
          <p:nvPr/>
        </p:nvSpPr>
        <p:spPr>
          <a:xfrm>
            <a:off x="6629400" y="2194560"/>
            <a:ext cx="640080" cy="64008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406640" y="2240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629400" y="301752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interactif pour organiser les repas de la semaine, pensé pour un usage quotidien simple.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29400" y="4078224"/>
            <a:ext cx="128016" cy="128016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395020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Réduit le gaspillage alimentaire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29400" y="4645152"/>
            <a:ext cx="128016" cy="128016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451713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 la gestion des courses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5212080"/>
            <a:ext cx="128016" cy="128016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508406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 gagner du temps au quotidien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NUVIA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Magie de l'IA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C2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qu'un simple site web : un véritable compagnon culinaire.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2B2420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468880"/>
            <a:ext cx="548640" cy="548640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31343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Chat &amp; Vocal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508760" y="26974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5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flottante immersive, façon ChatGPT Voice — mains-libres, à tout moment.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14884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2B2420"/>
          </a:solidFill>
          <a:ln/>
        </p:spPr>
      </p:sp>
      <p:sp>
        <p:nvSpPr>
          <p:cNvPr id="11" name="Shape 9"/>
          <p:cNvSpPr/>
          <p:nvPr/>
        </p:nvSpPr>
        <p:spPr>
          <a:xfrm>
            <a:off x="6519672" y="2468880"/>
            <a:ext cx="548640" cy="548640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12" name="Text 10"/>
          <p:cNvSpPr/>
          <p:nvPr/>
        </p:nvSpPr>
        <p:spPr>
          <a:xfrm>
            <a:off x="6519672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23760" y="231343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sur +1M recettes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223760" y="26974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5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augmentée directement dans notre base de données locale massive.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2B2420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4160520"/>
            <a:ext cx="548640" cy="548640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0050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Traduction à la volée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508760" y="43891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5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Français, Anglais, Arabe — traduits instantanément par l'IA.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84048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2B2420"/>
          </a:solidFill>
          <a:ln/>
        </p:spPr>
      </p:sp>
      <p:sp>
        <p:nvSpPr>
          <p:cNvPr id="21" name="Shape 19"/>
          <p:cNvSpPr/>
          <p:nvPr/>
        </p:nvSpPr>
        <p:spPr>
          <a:xfrm>
            <a:off x="6519672" y="4160520"/>
            <a:ext cx="548640" cy="548640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23760" y="40050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 intelligent (3 niveaux)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223760" y="43891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5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statiques → RAG → fallback LLM externe, pour rapidité et précision.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NUVIA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LE CAPOT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L'Envers du Décor : Architecture Technique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F7F3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594360" cy="594360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2585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3081528"/>
            <a:ext cx="109728" cy="109728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296265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Vite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46120" y="29626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client rapide et modulaire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3611880"/>
            <a:ext cx="109728" cy="109728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34930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46120" y="34930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Explore, Planner, Profile, Admin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4142232"/>
            <a:ext cx="109728" cy="109728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568" y="4023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Glassmorphism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46120" y="4023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 moderne (Inter)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4672584"/>
            <a:ext cx="109728" cy="109728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18" name="Text 16"/>
          <p:cNvSpPr/>
          <p:nvPr/>
        </p:nvSpPr>
        <p:spPr>
          <a:xfrm>
            <a:off x="1115568" y="45537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46120" y="45537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et synthèse vocale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5202936"/>
            <a:ext cx="109728" cy="109728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21" name="Text 19"/>
          <p:cNvSpPr/>
          <p:nvPr/>
        </p:nvSpPr>
        <p:spPr>
          <a:xfrm>
            <a:off x="1115568" y="508406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246120" y="508406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fluide et sécurisée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187452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F7F3EE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0" y="2194560"/>
            <a:ext cx="594360" cy="59436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2194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315200" y="22585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583680" y="3081528"/>
            <a:ext cx="109728" cy="109728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28" name="Text 26"/>
          <p:cNvSpPr/>
          <p:nvPr/>
        </p:nvSpPr>
        <p:spPr>
          <a:xfrm>
            <a:off x="6830568" y="296265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326880" y="29626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rapide pour l'auth et le RAG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0" y="3611880"/>
            <a:ext cx="109728" cy="109728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31" name="Text 29"/>
          <p:cNvSpPr/>
          <p:nvPr/>
        </p:nvSpPr>
        <p:spPr>
          <a:xfrm>
            <a:off x="6830568" y="34930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326880" y="34930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rapide dans le CSV local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83680" y="4142232"/>
            <a:ext cx="109728" cy="109728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34" name="Text 32"/>
          <p:cNvSpPr/>
          <p:nvPr/>
        </p:nvSpPr>
        <p:spPr>
          <a:xfrm>
            <a:off x="6830568" y="4023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(users.db)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326880" y="4023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léger et persistant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0" y="4672584"/>
            <a:ext cx="109728" cy="109728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37" name="Text 35"/>
          <p:cNvSpPr/>
          <p:nvPr/>
        </p:nvSpPr>
        <p:spPr>
          <a:xfrm>
            <a:off x="6830568" y="45537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(Llama-3.1-8b)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326880" y="45537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pour l'assistant conversationnel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83680" y="5202936"/>
            <a:ext cx="109728" cy="109728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40" name="Text 38"/>
          <p:cNvSpPr/>
          <p:nvPr/>
        </p:nvSpPr>
        <p:spPr>
          <a:xfrm>
            <a:off x="6830568" y="508406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Gemini / Ollama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9326880" y="50840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de disponibilité du chatbot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NUVIA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&amp; CONTRÔLE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Espace Utilisateur &amp; Administration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977640"/>
          </a:xfrm>
          <a:prstGeom prst="roundRect">
            <a:avLst>
              <a:gd name="adj" fmla="val 2338"/>
            </a:avLst>
          </a:prstGeom>
          <a:solidFill>
            <a:srgbClr val="F7F3E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67128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671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630168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4564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mot de passe (OTP)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288536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114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Google OAuth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946904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7731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sécurisées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25112" y="1874520"/>
            <a:ext cx="3520440" cy="3977640"/>
          </a:xfrm>
          <a:prstGeom prst="roundRect">
            <a:avLst>
              <a:gd name="adj" fmla="val 2338"/>
            </a:avLst>
          </a:prstGeom>
          <a:solidFill>
            <a:srgbClr val="F7F3E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9432" y="2167128"/>
            <a:ext cx="640080" cy="640080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16" name="Text 14"/>
          <p:cNvSpPr/>
          <p:nvPr/>
        </p:nvSpPr>
        <p:spPr>
          <a:xfrm>
            <a:off x="4599432" y="21671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99432" y="29718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Utilisateur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99432" y="3630168"/>
            <a:ext cx="100584" cy="100584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34564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Préférences sauvegardées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99432" y="4288536"/>
            <a:ext cx="100584" cy="100584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21" name="Text 19"/>
          <p:cNvSpPr/>
          <p:nvPr/>
        </p:nvSpPr>
        <p:spPr>
          <a:xfrm>
            <a:off x="4828032" y="4114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 recettes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99432" y="4946904"/>
            <a:ext cx="100584" cy="100584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47731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personnalisé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01584" y="1874520"/>
            <a:ext cx="3520440" cy="3977640"/>
          </a:xfrm>
          <a:prstGeom prst="roundRect">
            <a:avLst>
              <a:gd name="adj" fmla="val 2338"/>
            </a:avLst>
          </a:prstGeom>
          <a:solidFill>
            <a:srgbClr val="F7F3E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75904" y="2167128"/>
            <a:ext cx="640080" cy="64008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26" name="Text 24"/>
          <p:cNvSpPr/>
          <p:nvPr/>
        </p:nvSpPr>
        <p:spPr>
          <a:xfrm>
            <a:off x="8375904" y="21671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375904" y="29718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75904" y="3630168"/>
            <a:ext cx="100584" cy="100584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29" name="Text 27"/>
          <p:cNvSpPr/>
          <p:nvPr/>
        </p:nvSpPr>
        <p:spPr>
          <a:xfrm>
            <a:off x="8604504" y="34564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Avatars dynamiques (Dicebear)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375904" y="4288536"/>
            <a:ext cx="100584" cy="100584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31" name="Text 29"/>
          <p:cNvSpPr/>
          <p:nvPr/>
        </p:nvSpPr>
        <p:spPr>
          <a:xfrm>
            <a:off x="8604504" y="4114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centralisée SQLite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375904" y="4946904"/>
            <a:ext cx="100584" cy="100584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33" name="Text 31"/>
          <p:cNvSpPr/>
          <p:nvPr/>
        </p:nvSpPr>
        <p:spPr>
          <a:xfrm>
            <a:off x="8604504" y="47731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sécurisée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NUVIA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80160" y="3611880"/>
            <a:ext cx="9601200" cy="0"/>
          </a:xfrm>
          <a:prstGeom prst="line">
            <a:avLst/>
          </a:prstGeom>
          <a:noFill/>
          <a:ln w="25400">
            <a:solidFill>
              <a:srgbClr val="3A32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3200400"/>
            <a:ext cx="822960" cy="822960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200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35608" y="3090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251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Google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47091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5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Fluidité de l'authentification OAuth.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3200400"/>
            <a:ext cx="822960" cy="822960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3200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10328" y="3090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0" y="4251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Planner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47091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5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 de la plateforme et de ses modules.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18120" y="3200400"/>
            <a:ext cx="822960" cy="822960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16" name="Text 14"/>
          <p:cNvSpPr/>
          <p:nvPr/>
        </p:nvSpPr>
        <p:spPr>
          <a:xfrm>
            <a:off x="7818120" y="3200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385048" y="3090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0" y="4251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vocal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0" y="47091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5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question posée en français ou en arabe.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292840" y="3200400"/>
            <a:ext cx="822960" cy="822960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21" name="Text 19"/>
          <p:cNvSpPr/>
          <p:nvPr/>
        </p:nvSpPr>
        <p:spPr>
          <a:xfrm>
            <a:off x="11292840" y="3200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1859768" y="3090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0" y="4251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Admin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789920" y="47091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5A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 tableau de bord administrateur.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NUVIA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&amp; Perspectives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7F3EE"/>
          </a:solidFill>
          <a:ln/>
        </p:spPr>
      </p:sp>
      <p:sp>
        <p:nvSpPr>
          <p:cNvPr id="5" name="Shape 3"/>
          <p:cNvSpPr/>
          <p:nvPr/>
        </p:nvSpPr>
        <p:spPr>
          <a:xfrm>
            <a:off x="1943100" y="2468880"/>
            <a:ext cx="731520" cy="731520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6" name="Text 4"/>
          <p:cNvSpPr/>
          <p:nvPr/>
        </p:nvSpPr>
        <p:spPr>
          <a:xfrm>
            <a:off x="194310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native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Étendre Nuvia au-delà du web pour un usage quotidien encore plus fluide.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214884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7F3EE"/>
          </a:solidFill>
          <a:ln/>
        </p:spPr>
      </p:sp>
      <p:sp>
        <p:nvSpPr>
          <p:cNvPr id="10" name="Shape 8"/>
          <p:cNvSpPr/>
          <p:nvPr/>
        </p:nvSpPr>
        <p:spPr>
          <a:xfrm>
            <a:off x="5719572" y="2468880"/>
            <a:ext cx="731520" cy="73152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1" name="Text 9"/>
          <p:cNvSpPr/>
          <p:nvPr/>
        </p:nvSpPr>
        <p:spPr>
          <a:xfrm>
            <a:off x="5719572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53712" y="34290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de courses automatiques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9432" y="406908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intelligente en lien avec des partenaires locaux.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214884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7F3EE"/>
          </a:solidFill>
          <a:ln/>
        </p:spPr>
      </p:sp>
      <p:sp>
        <p:nvSpPr>
          <p:cNvPr id="15" name="Shape 13"/>
          <p:cNvSpPr/>
          <p:nvPr/>
        </p:nvSpPr>
        <p:spPr>
          <a:xfrm>
            <a:off x="9496044" y="246888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9496044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30184" y="34290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Classificateur d'intention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75904" y="406908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routage plus fin entre réponses statiques, RAG et fallback LLM.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ln w="19050">
            <a:solidFill>
              <a:srgbClr val="3A32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548640"/>
            <a:ext cx="2468880" cy="2468880"/>
          </a:xfrm>
          <a:prstGeom prst="ellipse">
            <a:avLst/>
          </a:prstGeom>
          <a:ln w="19050">
            <a:solidFill>
              <a:srgbClr val="D962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9659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écosystème moderne,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26060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6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prêt pour la production.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502920" cy="41148"/>
          </a:xfrm>
          <a:prstGeom prst="rect">
            <a:avLst/>
          </a:prstGeom>
          <a:solidFill>
            <a:srgbClr val="D9622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94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2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l'inspiration à l'assiette — merci pour votre attention.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51206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!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NUVIA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2026-07-15T11:45:32Z</dcterms:created>
  <dcterms:modified xsi:type="dcterms:W3CDTF">2026-07-15T11:45:32Z</dcterms:modified>
</cp:coreProperties>
</file>